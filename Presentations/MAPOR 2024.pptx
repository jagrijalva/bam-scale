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10"/>
  </p:notesMasterIdLst>
  <p:sldIdLst>
    <p:sldId id="256" r:id="rId2"/>
    <p:sldId id="260" r:id="rId3"/>
    <p:sldId id="265" r:id="rId4"/>
    <p:sldId id="266" r:id="rId5"/>
    <p:sldId id="267" r:id="rId6"/>
    <p:sldId id="268" r:id="rId7"/>
    <p:sldId id="269" r:id="rId8"/>
    <p:sldId id="264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issa Chudzick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38"/>
    <p:restoredTop sz="94724"/>
  </p:normalViewPr>
  <p:slideViewPr>
    <p:cSldViewPr snapToGrid="0">
      <p:cViewPr varScale="1">
        <p:scale>
          <a:sx n="91" d="100"/>
          <a:sy n="91" d="100"/>
        </p:scale>
        <p:origin x="200" y="15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4A7BCFCD-DD01-E95B-C08A-9FD16253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>
            <a:extLst>
              <a:ext uri="{FF2B5EF4-FFF2-40B4-BE49-F238E27FC236}">
                <a16:creationId xmlns:a16="http://schemas.microsoft.com/office/drawing/2014/main" id="{9BA3A491-51DD-A803-1850-DEC7D2562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>
            <a:extLst>
              <a:ext uri="{FF2B5EF4-FFF2-40B4-BE49-F238E27FC236}">
                <a16:creationId xmlns:a16="http://schemas.microsoft.com/office/drawing/2014/main" id="{B4476092-195F-A3CB-15D5-DAF352C42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087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13CB2BD7-029D-B5BB-1BCE-CBD7363F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>
            <a:extLst>
              <a:ext uri="{FF2B5EF4-FFF2-40B4-BE49-F238E27FC236}">
                <a16:creationId xmlns:a16="http://schemas.microsoft.com/office/drawing/2014/main" id="{787AC12E-62AE-9973-CB14-34ED74DA6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>
            <a:extLst>
              <a:ext uri="{FF2B5EF4-FFF2-40B4-BE49-F238E27FC236}">
                <a16:creationId xmlns:a16="http://schemas.microsoft.com/office/drawing/2014/main" id="{D38FAE07-75BC-4669-49AB-C1991F307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309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7F37401C-6C6D-C02B-1531-990D20AA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>
            <a:extLst>
              <a:ext uri="{FF2B5EF4-FFF2-40B4-BE49-F238E27FC236}">
                <a16:creationId xmlns:a16="http://schemas.microsoft.com/office/drawing/2014/main" id="{F3CC7BDD-9348-8AC2-EAF3-F678C378D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>
            <a:extLst>
              <a:ext uri="{FF2B5EF4-FFF2-40B4-BE49-F238E27FC236}">
                <a16:creationId xmlns:a16="http://schemas.microsoft.com/office/drawing/2014/main" id="{F2F33469-8377-18E9-9AB8-249CC2161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059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3DF981-23E7-8C4C-CC12-164BD80D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>
            <a:extLst>
              <a:ext uri="{FF2B5EF4-FFF2-40B4-BE49-F238E27FC236}">
                <a16:creationId xmlns:a16="http://schemas.microsoft.com/office/drawing/2014/main" id="{C9006E16-38A1-2B3F-BC64-DF9E8A874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>
            <a:extLst>
              <a:ext uri="{FF2B5EF4-FFF2-40B4-BE49-F238E27FC236}">
                <a16:creationId xmlns:a16="http://schemas.microsoft.com/office/drawing/2014/main" id="{8FA2E789-AD1B-247B-968F-A1A166A7E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10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0A93DBA-2CBB-B557-1344-D6B930A6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153a2c3c_0_90:notes">
            <a:extLst>
              <a:ext uri="{FF2B5EF4-FFF2-40B4-BE49-F238E27FC236}">
                <a16:creationId xmlns:a16="http://schemas.microsoft.com/office/drawing/2014/main" id="{1206D5FA-37C9-E05C-FCB2-A1CB12691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153a2c3c_0_90:notes">
            <a:extLst>
              <a:ext uri="{FF2B5EF4-FFF2-40B4-BE49-F238E27FC236}">
                <a16:creationId xmlns:a16="http://schemas.microsoft.com/office/drawing/2014/main" id="{52ADE8BE-288C-707C-22FE-2A294CA8F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627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6153a2c3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26153a2c3c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19750" y="897925"/>
            <a:ext cx="69045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sz="70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 b="1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975" y="3435625"/>
            <a:ext cx="2064040" cy="84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711750" y="534425"/>
            <a:ext cx="7720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>
            <a:off x="711750" y="4587025"/>
            <a:ext cx="7720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 4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408000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33885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>
            <a:spLocks noGrp="1"/>
          </p:cNvSpPr>
          <p:nvPr>
            <p:ph type="pic" idx="3"/>
          </p:nvPr>
        </p:nvSpPr>
        <p:spPr>
          <a:xfrm>
            <a:off x="404985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6"/>
          <p:cNvSpPr>
            <a:spLocks noGrp="1"/>
          </p:cNvSpPr>
          <p:nvPr>
            <p:ph type="pic" idx="4"/>
          </p:nvPr>
        </p:nvSpPr>
        <p:spPr>
          <a:xfrm>
            <a:off x="630870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8" name="Google Shape;48;p6"/>
          <p:cNvCxnSpPr/>
          <p:nvPr/>
        </p:nvCxnSpPr>
        <p:spPr>
          <a:xfrm>
            <a:off x="435525" y="610625"/>
            <a:ext cx="82875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49;p6"/>
          <p:cNvCxnSpPr/>
          <p:nvPr/>
        </p:nvCxnSpPr>
        <p:spPr>
          <a:xfrm>
            <a:off x="435525" y="4587025"/>
            <a:ext cx="82875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5"/>
          </p:nvPr>
        </p:nvSpPr>
        <p:spPr>
          <a:xfrm>
            <a:off x="387900" y="106700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915550" y="10057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">
  <p:cSld name="CAPTION_ONLY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80712" y="2004799"/>
            <a:ext cx="2782576" cy="11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ctrTitle"/>
          </p:nvPr>
        </p:nvSpPr>
        <p:spPr>
          <a:xfrm>
            <a:off x="1119750" y="897925"/>
            <a:ext cx="6904500" cy="1673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Exploring Latino Acculturation Through Non-Parametric Cluster Analysis</a:t>
            </a:r>
            <a:endParaRPr sz="3000" dirty="0"/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81D68-C24B-1227-921F-8FC4F7DE723C}"/>
              </a:ext>
            </a:extLst>
          </p:cNvPr>
          <p:cNvSpPr txBox="1"/>
          <p:nvPr/>
        </p:nvSpPr>
        <p:spPr>
          <a:xfrm>
            <a:off x="1706392" y="2602521"/>
            <a:ext cx="5731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Jessala A. Grijalva, PhD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Institute for Latino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4BF4A2F9-F837-AE2F-37F6-A8333254E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751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Challenging Binary Acculturation</a:t>
            </a:r>
            <a:endParaRPr sz="3000" b="1" dirty="0"/>
          </a:p>
        </p:txBody>
      </p:sp>
      <p:sp>
        <p:nvSpPr>
          <p:cNvPr id="6" name="Google Shape;97;p12">
            <a:extLst>
              <a:ext uri="{FF2B5EF4-FFF2-40B4-BE49-F238E27FC236}">
                <a16:creationId xmlns:a16="http://schemas.microsoft.com/office/drawing/2014/main" id="{F8AEB220-32AD-96AA-AD7F-5A01F80B3000}"/>
              </a:ext>
            </a:extLst>
          </p:cNvPr>
          <p:cNvSpPr txBox="1">
            <a:spLocks/>
          </p:cNvSpPr>
          <p:nvPr/>
        </p:nvSpPr>
        <p:spPr>
          <a:xfrm>
            <a:off x="778990" y="1567240"/>
            <a:ext cx="4891559" cy="308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The new mestiza copes by developing a tolerance for contradictions, a tolerance for ambiguity... She learns to juggle cultures. She has a plural personality, she operates in a pluralistic mode—nothing thrust out, nothing rejected, nothing abandoned.</a:t>
            </a:r>
          </a:p>
          <a:p>
            <a:pPr algn="r"/>
            <a:r>
              <a:rPr lang="en-US" sz="2000" dirty="0"/>
              <a:t>- Gloria Anzaldúa, 1972</a:t>
            </a:r>
          </a:p>
        </p:txBody>
      </p:sp>
      <p:pic>
        <p:nvPicPr>
          <p:cNvPr id="8" name="Picture 7" descr="A painting of a person&#10;&#10;Description automatically generated">
            <a:extLst>
              <a:ext uri="{FF2B5EF4-FFF2-40B4-BE49-F238E27FC236}">
                <a16:creationId xmlns:a16="http://schemas.microsoft.com/office/drawing/2014/main" id="{FC699C0F-850A-878A-ED0E-E8915A64E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516" y="1406769"/>
            <a:ext cx="2167792" cy="28733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DB04029D-9504-06CF-A9F5-1237DD0F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B83EA793-98E2-1068-FEA6-AD6D95E22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1032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Multidimensional Latino Acculturation Model (MLAM)</a:t>
            </a:r>
            <a:endParaRPr sz="3000" b="1" dirty="0"/>
          </a:p>
        </p:txBody>
      </p:sp>
      <p:sp>
        <p:nvSpPr>
          <p:cNvPr id="6" name="Google Shape;97;p12">
            <a:extLst>
              <a:ext uri="{FF2B5EF4-FFF2-40B4-BE49-F238E27FC236}">
                <a16:creationId xmlns:a16="http://schemas.microsoft.com/office/drawing/2014/main" id="{E2CF8D8D-54FE-1F4F-B2D9-56EB440E17E3}"/>
              </a:ext>
            </a:extLst>
          </p:cNvPr>
          <p:cNvSpPr txBox="1">
            <a:spLocks/>
          </p:cNvSpPr>
          <p:nvPr/>
        </p:nvSpPr>
        <p:spPr>
          <a:xfrm>
            <a:off x="2126220" y="1730326"/>
            <a:ext cx="4891559" cy="52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500" i="1" dirty="0"/>
              <a:t>A Novel Theoretical Framework</a:t>
            </a:r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3D5CBD08-94F4-9AD8-6E13-AAC73218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423" y="2509482"/>
            <a:ext cx="5679154" cy="14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6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5CCA74E4-2EB5-9B2D-3620-F9785A89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6C7F889B-9BCB-57C1-9618-22DA6E50C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681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Data and Methodological Innovation</a:t>
            </a:r>
            <a:endParaRPr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E1FAD6-483B-2D86-5CAC-F50BF85801DF}"/>
              </a:ext>
            </a:extLst>
          </p:cNvPr>
          <p:cNvSpPr txBox="1"/>
          <p:nvPr/>
        </p:nvSpPr>
        <p:spPr>
          <a:xfrm>
            <a:off x="723950" y="1569584"/>
            <a:ext cx="429821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2006 Latino National Survey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Nationally representative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Independent assessment of identities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Captures aspirational attitudes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Subset analyzed: n=3,785 eligible Latino voters</a:t>
            </a:r>
          </a:p>
        </p:txBody>
      </p:sp>
      <p:pic>
        <p:nvPicPr>
          <p:cNvPr id="7" name="Picture 6" descr="A screenshot of a diagram&#10;&#10;Description automatically generated">
            <a:extLst>
              <a:ext uri="{FF2B5EF4-FFF2-40B4-BE49-F238E27FC236}">
                <a16:creationId xmlns:a16="http://schemas.microsoft.com/office/drawing/2014/main" id="{5ED459DD-1DB0-E775-C665-DFD7F9B5F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92" y="1427167"/>
            <a:ext cx="2757458" cy="299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7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75ED3EB-886F-CE7D-7E88-FBFC221F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BA964758-89A0-85B1-1BC4-59474CC9A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1032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Emerging Patterns of Acculturation</a:t>
            </a:r>
            <a:endParaRPr sz="3000" b="1" dirty="0"/>
          </a:p>
        </p:txBody>
      </p:sp>
      <p:pic>
        <p:nvPicPr>
          <p:cNvPr id="3" name="Picture 2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E2ABB0BB-DE9B-4793-B2B5-7AD211045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315" y="1545118"/>
            <a:ext cx="3611218" cy="2641040"/>
          </a:xfrm>
          <a:prstGeom prst="rect">
            <a:avLst/>
          </a:prstGeom>
        </p:spPr>
      </p:pic>
      <p:pic>
        <p:nvPicPr>
          <p:cNvPr id="8" name="Picture 7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366D0685-4820-C1C7-4C7A-E6E8F7B12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62" y="1545118"/>
            <a:ext cx="4199707" cy="26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6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6EB31EB-97DF-102B-B2AC-51DD8EAC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D8F82563-886E-4C3A-E609-D0905141F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1032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Political Dimensions of Acculturation</a:t>
            </a:r>
            <a:endParaRPr sz="3000" b="1" dirty="0"/>
          </a:p>
        </p:txBody>
      </p:sp>
      <p:pic>
        <p:nvPicPr>
          <p:cNvPr id="5" name="Picture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B0526F90-9222-C1C5-F6BE-3A0FF1D10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992" y="1366963"/>
            <a:ext cx="4910015" cy="29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6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101949F-0582-71EC-17AA-87356AA1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2">
            <a:extLst>
              <a:ext uri="{FF2B5EF4-FFF2-40B4-BE49-F238E27FC236}">
                <a16:creationId xmlns:a16="http://schemas.microsoft.com/office/drawing/2014/main" id="{D33ACE6A-950F-A11A-8F84-F62990B3D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268" y="655184"/>
            <a:ext cx="7421590" cy="1032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Rethinking Latino Political Behavior</a:t>
            </a:r>
            <a:endParaRPr sz="3000" b="1" dirty="0"/>
          </a:p>
        </p:txBody>
      </p:sp>
      <p:pic>
        <p:nvPicPr>
          <p:cNvPr id="2" name="Picture 1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D23B8AFA-3672-90D8-7ADD-AF98AFA61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866" y="1497641"/>
            <a:ext cx="3492949" cy="25545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4FA53B-F913-C036-3D61-7C38307E6D7E}"/>
              </a:ext>
            </a:extLst>
          </p:cNvPr>
          <p:cNvSpPr txBox="1"/>
          <p:nvPr/>
        </p:nvSpPr>
        <p:spPr>
          <a:xfrm>
            <a:off x="597185" y="1516983"/>
            <a:ext cx="40354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Key Takeaways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 Binary models erase 76% of Latino acculturation experiences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Acculturation orientations shape political behavior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•  Binary frameworks fundamentally misrepresent Latino acculturation/experiences</a:t>
            </a:r>
          </a:p>
        </p:txBody>
      </p:sp>
    </p:spTree>
    <p:extLst>
      <p:ext uri="{BB962C8B-B14F-4D97-AF65-F5344CB8AC3E}">
        <p14:creationId xmlns:p14="http://schemas.microsoft.com/office/powerpoint/2010/main" val="69907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6" name="Google Shape;97;p12">
            <a:extLst>
              <a:ext uri="{FF2B5EF4-FFF2-40B4-BE49-F238E27FC236}">
                <a16:creationId xmlns:a16="http://schemas.microsoft.com/office/drawing/2014/main" id="{E2F6775E-1429-CE3E-B66D-83B24E1598B9}"/>
              </a:ext>
            </a:extLst>
          </p:cNvPr>
          <p:cNvSpPr txBox="1">
            <a:spLocks/>
          </p:cNvSpPr>
          <p:nvPr/>
        </p:nvSpPr>
        <p:spPr>
          <a:xfrm>
            <a:off x="822268" y="655184"/>
            <a:ext cx="7421590" cy="1032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7" name="Google Shape;97;p12">
            <a:extLst>
              <a:ext uri="{FF2B5EF4-FFF2-40B4-BE49-F238E27FC236}">
                <a16:creationId xmlns:a16="http://schemas.microsoft.com/office/drawing/2014/main" id="{CC913F10-83F3-FD32-A7BC-32C54EDDEF99}"/>
              </a:ext>
            </a:extLst>
          </p:cNvPr>
          <p:cNvSpPr txBox="1">
            <a:spLocks/>
          </p:cNvSpPr>
          <p:nvPr/>
        </p:nvSpPr>
        <p:spPr>
          <a:xfrm>
            <a:off x="822268" y="1538812"/>
            <a:ext cx="7421590" cy="683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500" i="1" dirty="0" err="1">
                <a:solidFill>
                  <a:schemeClr val="bg1"/>
                </a:solidFill>
              </a:rPr>
              <a:t>jgrijalv@nd.edu</a:t>
            </a:r>
            <a:endParaRPr lang="en-US" sz="25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C2340"/>
      </a:dk1>
      <a:lt1>
        <a:srgbClr val="FFFFFF"/>
      </a:lt1>
      <a:dk2>
        <a:srgbClr val="595959"/>
      </a:dk2>
      <a:lt2>
        <a:srgbClr val="EEEEEE"/>
      </a:lt2>
      <a:accent1>
        <a:srgbClr val="0C2340"/>
      </a:accent1>
      <a:accent2>
        <a:srgbClr val="AE9142"/>
      </a:accent2>
      <a:accent3>
        <a:srgbClr val="0A843D"/>
      </a:accent3>
      <a:accent4>
        <a:srgbClr val="143865"/>
      </a:accent4>
      <a:accent5>
        <a:srgbClr val="1C4F8F"/>
      </a:accent5>
      <a:accent6>
        <a:srgbClr val="E1E8F2"/>
      </a:accent6>
      <a:hlink>
        <a:srgbClr val="1C4F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Macintosh PowerPoint</Application>
  <PresentationFormat>On-screen Show (16:9)</PresentationFormat>
  <Paragraphs>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Exploring Latino Acculturation Through Non-Parametric Cluster Analysis</vt:lpstr>
      <vt:lpstr>Challenging Binary Acculturation</vt:lpstr>
      <vt:lpstr>Multidimensional Latino Acculturation Model (MLAM)</vt:lpstr>
      <vt:lpstr>Data and Methodological Innovation</vt:lpstr>
      <vt:lpstr>Emerging Patterns of Acculturation</vt:lpstr>
      <vt:lpstr>Political Dimensions of Acculturation</vt:lpstr>
      <vt:lpstr>Rethinking Latino Political Behavior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Jessala Grijalva</cp:lastModifiedBy>
  <cp:revision>1</cp:revision>
  <dcterms:modified xsi:type="dcterms:W3CDTF">2024-11-23T12:33:17Z</dcterms:modified>
</cp:coreProperties>
</file>